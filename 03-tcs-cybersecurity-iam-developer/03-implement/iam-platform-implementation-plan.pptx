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E2761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TECHCORP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4231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IAM Platform Implementation Plan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61188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phased roadmap for secure, automated identity and access management across 100+ countries and 150,000+ employees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822960" y="4617720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C4"/>
                </a:solidFill>
                <a:latin typeface="Calibri"/>
                <a:ea typeface="Calibri"/>
                <a:cs typeface="Calibri"/>
                <a:sym typeface="Calibri"/>
              </a:rPr>
              <a:t>IAM Developer Solution Proposal - M</a:t>
            </a:r>
            <a:r>
              <a:rPr lang="en-US" sz="1200">
                <a:solidFill>
                  <a:srgbClr val="8A93C4"/>
                </a:solidFill>
                <a:latin typeface="Calibri"/>
                <a:ea typeface="Calibri"/>
                <a:cs typeface="Calibri"/>
                <a:sym typeface="Calibri"/>
              </a:rPr>
              <a:t> Uzair</a:t>
            </a:r>
            <a:r>
              <a:rPr b="0" i="0" lang="en-US" sz="1200" u="none" cap="none" strike="noStrike">
                <a:solidFill>
                  <a:srgbClr val="8A93C4"/>
                </a:solidFill>
                <a:latin typeface="Calibri"/>
                <a:ea typeface="Calibri"/>
                <a:cs typeface="Calibri"/>
                <a:sym typeface="Calibri"/>
              </a:rPr>
              <a:t>  |  Implementation Phase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Executive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1143000"/>
            <a:ext cx="6675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TechCorp's IAM readiness assessment and solution design are complete. This plan translates the approved design</a:t>
            </a:r>
            <a:r>
              <a:rPr lang="en-US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 automated user lifecycle management and role-based access control into a phased, resourced implementation that avoids disruption to daily operations.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31520" y="263347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Automate joiner / mover / leaver access across the employee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3355848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Enforce least-privilege, role-based access with MFA and conditional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3922776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1520" y="376732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Integrate legacy, third-party, and cloud applications via SSO and SCIM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4489704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31520" y="4334256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Deliver centralized audit logging and continuous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452360" y="1143000"/>
            <a:ext cx="4251960" cy="1170432"/>
          </a:xfrm>
          <a:prstGeom prst="roundRect">
            <a:avLst>
              <a:gd fmla="val 625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680960" y="1252728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150,000+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680960" y="18013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Employees Covered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452360" y="2496312"/>
            <a:ext cx="4251960" cy="1170432"/>
          </a:xfrm>
          <a:prstGeom prst="roundRect">
            <a:avLst>
              <a:gd fmla="val 625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680960" y="260604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100+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680960" y="31546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452360" y="3849624"/>
            <a:ext cx="4251960" cy="1170432"/>
          </a:xfrm>
          <a:prstGeom prst="roundRect">
            <a:avLst>
              <a:gd fmla="val 625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680960" y="3959352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680960" y="450799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Rollout Phases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452360" y="5202936"/>
            <a:ext cx="4251960" cy="1170432"/>
          </a:xfrm>
          <a:prstGeom prst="roundRect">
            <a:avLst>
              <a:gd fmla="val 625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680960" y="5312664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680960" y="5861304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Core Standards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(SCIM · SAML · OIDC · OAuth2)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Implementation 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5"/>
          <p:cNvCxnSpPr/>
          <p:nvPr/>
        </p:nvCxnSpPr>
        <p:spPr>
          <a:xfrm>
            <a:off x="704088" y="1618488"/>
            <a:ext cx="9070848" cy="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2057400"/>
            <a:ext cx="2139696" cy="3246120"/>
          </a:xfrm>
          <a:prstGeom prst="roundRect">
            <a:avLst>
              <a:gd fmla="val 29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94360" y="219456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Foundation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274320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Weeks 1–4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94360" y="3063240"/>
            <a:ext cx="18653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Inventory identities, apps &amp; privileged accounts; establish governance and identity data standards.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594360" y="4572000"/>
            <a:ext cx="1865376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594360" y="4645152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Milestone: Governance charter approved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724912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724912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724912" y="2057400"/>
            <a:ext cx="2139696" cy="3246120"/>
          </a:xfrm>
          <a:prstGeom prst="roundRect">
            <a:avLst>
              <a:gd fmla="val 29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862072" y="219456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Identity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862072" y="274320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Weeks 5–10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862072" y="3063240"/>
            <a:ext cx="18653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Connect HRIS to the identity platform; build Joiner-Mover-Leaver workflows.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5"/>
          <p:cNvCxnSpPr/>
          <p:nvPr/>
        </p:nvCxnSpPr>
        <p:spPr>
          <a:xfrm>
            <a:off x="2862072" y="4572000"/>
            <a:ext cx="1865376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5"/>
          <p:cNvSpPr/>
          <p:nvPr/>
        </p:nvSpPr>
        <p:spPr>
          <a:xfrm>
            <a:off x="2862072" y="4645152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Milestone: HRIS ↔ IdP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992624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992624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992624" y="2057400"/>
            <a:ext cx="2139696" cy="3246120"/>
          </a:xfrm>
          <a:prstGeom prst="roundRect">
            <a:avLst>
              <a:gd fmla="val 29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129784" y="219456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Core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129784" y="274320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Weeks 11–18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129784" y="3063240"/>
            <a:ext cx="18653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Implement RBAC, groups, SSO and MFA; onboard highest-priority applications.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5129784" y="4572000"/>
            <a:ext cx="1865376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5"/>
          <p:cNvSpPr/>
          <p:nvPr/>
        </p:nvSpPr>
        <p:spPr>
          <a:xfrm>
            <a:off x="5129784" y="4645152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Milestone: Top-priority apps on SSO/MFA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260336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260336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260336" y="2057400"/>
            <a:ext cx="2139696" cy="3246120"/>
          </a:xfrm>
          <a:prstGeom prst="roundRect">
            <a:avLst>
              <a:gd fmla="val 29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397496" y="219456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Governance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397496" y="274320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Weeks 19–24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397496" y="3063240"/>
            <a:ext cx="18653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Introduce access reviews, segregation of duties, PAM and automated remediation.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7397496" y="4572000"/>
            <a:ext cx="1865376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/>
          <p:nvPr/>
        </p:nvSpPr>
        <p:spPr>
          <a:xfrm>
            <a:off x="7397496" y="4645152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Milestone: First access review cycle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528048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9528048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9528048" y="2057400"/>
            <a:ext cx="2139696" cy="3246120"/>
          </a:xfrm>
          <a:prstGeom prst="roundRect">
            <a:avLst>
              <a:gd fmla="val 29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9665208" y="219456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Scale &amp;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Optimise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665208" y="274320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Weeks 25–30+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665208" y="3063240"/>
            <a:ext cx="18653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Expand integrations globally, tune policies, automate reporting, continuous improvement.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5"/>
          <p:cNvCxnSpPr/>
          <p:nvPr/>
        </p:nvCxnSpPr>
        <p:spPr>
          <a:xfrm>
            <a:off x="9665208" y="4572000"/>
            <a:ext cx="1865376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/>
          <p:nvPr/>
        </p:nvSpPr>
        <p:spPr>
          <a:xfrm>
            <a:off x="9665208" y="4645152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Milestone: 80%+ apps integrated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Delivery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10972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Estimated duration by phase, in weeks from project kickoff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54480"/>
            <a:ext cx="11247120" cy="4709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Target Architecture &amp; Integration 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137160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137160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(Authoritative Source)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606040" y="1719072"/>
            <a:ext cx="45720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880360" y="137160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880360" y="137160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 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Lifecycle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0" y="1719072"/>
            <a:ext cx="45720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303520" y="137160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303520" y="137160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 Identity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Provider (Entra ID)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217920" y="2331720"/>
            <a:ext cx="274320" cy="3657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886200" y="2788920"/>
            <a:ext cx="1554480" cy="868680"/>
          </a:xfrm>
          <a:prstGeom prst="roundRect">
            <a:avLst>
              <a:gd fmla="val 7368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3886200" y="2788920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SSO Applications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577840" y="2788920"/>
            <a:ext cx="1554480" cy="868680"/>
          </a:xfrm>
          <a:prstGeom prst="roundRect">
            <a:avLst>
              <a:gd fmla="val 7368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577840" y="2788920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Cloud / SaaS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(SCIM Provisioning)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269480" y="2788920"/>
            <a:ext cx="1554480" cy="868680"/>
          </a:xfrm>
          <a:prstGeom prst="roundRect">
            <a:avLst>
              <a:gd fmla="val 7368" name="adj"/>
            </a:avLst>
          </a:prstGeom>
          <a:solidFill>
            <a:srgbClr val="F4F6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269480" y="2788920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Privileged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(PAM)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217920" y="3703320"/>
            <a:ext cx="274320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886200" y="4069080"/>
            <a:ext cx="4937760" cy="685800"/>
          </a:xfrm>
          <a:prstGeom prst="roundRect">
            <a:avLst>
              <a:gd fmla="val 9333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3886200" y="406908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 Audit Logs  +  SIEM  +  Periodic Access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Integration Challenges &amp; Solutions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1234440"/>
            <a:ext cx="3657600" cy="5029200"/>
          </a:xfrm>
          <a:prstGeom prst="roundRect">
            <a:avLst>
              <a:gd fmla="val 200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85800" y="1490472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85800" y="1490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85800" y="21031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Legacy Systems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85800" y="26517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85800" y="292608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No modern APIs or federation support; direct integration is impractical.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685800" y="4023360"/>
            <a:ext cx="32004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8"/>
          <p:cNvSpPr/>
          <p:nvPr/>
        </p:nvSpPr>
        <p:spPr>
          <a:xfrm>
            <a:off x="685800" y="4160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85800" y="4434840"/>
            <a:ext cx="32004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Route through a controlled gateway/connector layer; prioritise modernisation of the highest-risk legacy apps first.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297680" y="1234440"/>
            <a:ext cx="3657600" cy="5029200"/>
          </a:xfrm>
          <a:prstGeom prst="roundRect">
            <a:avLst>
              <a:gd fmla="val 200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526280" y="1490472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526280" y="1490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26280" y="21031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Third-Party Applications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26280" y="26517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26280" y="292608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Inconsistent support for SCIM, SAML or OIDC across vendors.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8"/>
          <p:cNvCxnSpPr/>
          <p:nvPr/>
        </p:nvCxnSpPr>
        <p:spPr>
          <a:xfrm>
            <a:off x="4526280" y="4023360"/>
            <a:ext cx="32004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8"/>
          <p:cNvSpPr/>
          <p:nvPr/>
        </p:nvSpPr>
        <p:spPr>
          <a:xfrm>
            <a:off x="4526280" y="4160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26280" y="4434840"/>
            <a:ext cx="32004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Use native standards where supported; fall back to secured API or brokered provisioning for the rest, with a migration path to standards-based access.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138160" y="1234440"/>
            <a:ext cx="3657600" cy="5029200"/>
          </a:xfrm>
          <a:prstGeom prst="roundRect">
            <a:avLst>
              <a:gd fmla="val 200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366760" y="1490472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8366760" y="1490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8366760" y="21031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Cloud / SaaS Sprawl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8366760" y="26517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366760" y="292608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Rapid adoption of new SaaS creates uncontrolled identity sprawl and inconsistent access.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8"/>
          <p:cNvCxnSpPr/>
          <p:nvPr/>
        </p:nvCxnSpPr>
        <p:spPr>
          <a:xfrm>
            <a:off x="8366760" y="4023360"/>
            <a:ext cx="32004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8"/>
          <p:cNvSpPr/>
          <p:nvPr/>
        </p:nvSpPr>
        <p:spPr>
          <a:xfrm>
            <a:off x="8366760" y="4160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66760" y="4434840"/>
            <a:ext cx="32004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Federate every new cloud app through the central IdP via SSO and SCIM; onboard in priority order by risk and user count.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Resource Requirements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1188720"/>
            <a:ext cx="5532120" cy="1508760"/>
          </a:xfrm>
          <a:prstGeom prst="roundRect">
            <a:avLst>
              <a:gd fmla="val 424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58368" y="138988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58368" y="1389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143000" y="13258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Executive Sponsor &amp; Steering Committee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143000" y="173736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Approves scope, budget and risk decisions; unblocks cross-functional dependencies.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172200" y="1188720"/>
            <a:ext cx="5532120" cy="1508760"/>
          </a:xfrm>
          <a:prstGeom prst="roundRect">
            <a:avLst>
              <a:gd fmla="val 424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6373368" y="138988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373368" y="1389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858000" y="13258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IAM Program Manager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858000" y="173736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Owns the plan, timeline, milestones and stakeholder communication.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7200" y="2880360"/>
            <a:ext cx="5532120" cy="1508760"/>
          </a:xfrm>
          <a:prstGeom prst="roundRect">
            <a:avLst>
              <a:gd fmla="val 424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58368" y="308152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58368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143000" y="301752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IAM Architects &amp; Engineers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143000" y="342900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Configure the identity platform, RBAC model, SSO/SCIM connectors and PAM.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172200" y="2880360"/>
            <a:ext cx="5532120" cy="1508760"/>
          </a:xfrm>
          <a:prstGeom prst="roundRect">
            <a:avLst>
              <a:gd fmla="val 424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373368" y="308152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373368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858000" y="301752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HRIS &amp; Application Integration Leads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858000" y="342900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Deliver HRIS event feeds and application-side onboarding for SSO/SCIM.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4572000"/>
            <a:ext cx="5532120" cy="1508760"/>
          </a:xfrm>
          <a:prstGeom prst="roundRect">
            <a:avLst>
              <a:gd fmla="val 424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58368" y="477316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58368" y="47731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143000" y="47091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Security / GRC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43000" y="512064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Defines access-review cadence, SoD rules and audit/compliance reporting.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172200" y="4572000"/>
            <a:ext cx="5532120" cy="1508760"/>
          </a:xfrm>
          <a:prstGeom prst="roundRect">
            <a:avLst>
              <a:gd fmla="val 424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373368" y="477316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373368" y="47731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858000" y="47091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Change Management &amp; Training Lead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858000" y="512064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Prepares end users and application owners for MFA, SSO and new workflows.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610819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Tooling: Microsoft Entra ID (reference IdP) · SCIM / SAML / OIDC / OAuth 2.0 connectors · SIEM integration · Access-review &amp; PAM tooling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Security &amp; Access Controls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57200" y="123444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713232" y="14904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713232" y="1490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13232" y="2103120"/>
            <a:ext cx="4928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RBAC &amp; Least Privilege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13232" y="2560320"/>
            <a:ext cx="49286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Roles map to business responsibilities; permissions follow the role, with approvals for sensitive resources.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080760" y="123444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336792" y="14904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336792" y="1490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336792" y="2103120"/>
            <a:ext cx="4928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MFA &amp; Conditional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336792" y="2560320"/>
            <a:ext cx="49286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Mandatory MFA workforce-wide; phishing-resistant methods and device/risk signals for privileged and high-risk access.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374904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13232" y="40050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713232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13232" y="4617720"/>
            <a:ext cx="4928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Privileged Access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13232" y="5074920"/>
            <a:ext cx="49286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Just-in-time elevation, approval workflows, session logging and time-bound admin permissions.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080760" y="374904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336792" y="40050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336792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336792" y="4617720"/>
            <a:ext cx="4928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Audit, SIEM &amp; Access Reviews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336792" y="5074920"/>
            <a:ext cx="49286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All identity events centrally logged; periodic certification and segregation-of-duties checks.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Alignment with Business Objectives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7200" y="1463040"/>
            <a:ext cx="2139696" cy="4206240"/>
          </a:xfrm>
          <a:prstGeom prst="roundRect">
            <a:avLst>
              <a:gd fmla="val 341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40080" y="1737360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Security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40080" y="2468880"/>
            <a:ext cx="177393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Centralized auth, least privilege, MFA and PAM close common identity attack paths.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2724912" y="1463040"/>
            <a:ext cx="2139696" cy="4206240"/>
          </a:xfrm>
          <a:prstGeom prst="roundRect">
            <a:avLst>
              <a:gd fmla="val 3419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2907792" y="1737360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Efficiency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907792" y="2468880"/>
            <a:ext cx="177393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Automation removes manual provisioning, cuts errors, speeds up employee access.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992624" y="1463040"/>
            <a:ext cx="2139696" cy="4206240"/>
          </a:xfrm>
          <a:prstGeom prst="roundRect">
            <a:avLst>
              <a:gd fmla="val 341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175504" y="1737360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User Experience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175504" y="2468880"/>
            <a:ext cx="177393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SSO reduces password fatigue with a consistent access experience everywhere.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7260336" y="1463040"/>
            <a:ext cx="2139696" cy="4206240"/>
          </a:xfrm>
          <a:prstGeom prst="roundRect">
            <a:avLst>
              <a:gd fmla="val 3419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7443216" y="1737360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Scalability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443216" y="2468880"/>
            <a:ext cx="177393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Role/group-based access and open standards support 150,000+ users across 100+ countries.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9528048" y="1463040"/>
            <a:ext cx="2139696" cy="4206240"/>
          </a:xfrm>
          <a:prstGeom prst="roundRect">
            <a:avLst>
              <a:gd fmla="val 341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9710928" y="1737360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Competitive Edge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710928" y="2468880"/>
            <a:ext cx="177393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secure, frictionless workplace lets TechCorp adopt new cloud services without identity sprawl.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1097280" y="38404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Success Metrics &amp; Risk Mitigation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Success Metrics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457200" y="165506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13232" y="15087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% of joiners provisioned before start date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57200" y="2139696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713232" y="1993392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Time from termination event to disablement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2624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713232" y="2478024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% of apps on SSO / automated provisioning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57200" y="31089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713232" y="2962656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% of users protected by MFA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57200" y="3593592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713232" y="3447288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Orphaned / dormant account count &amp; 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57200" y="407822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13232" y="39319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F3C"/>
                </a:solidFill>
                <a:latin typeface="Calibri"/>
                <a:ea typeface="Calibri"/>
                <a:cs typeface="Calibri"/>
                <a:sym typeface="Calibri"/>
              </a:rPr>
              <a:t>% of access reviews completed on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2"/>
          <p:cNvCxnSpPr/>
          <p:nvPr/>
        </p:nvCxnSpPr>
        <p:spPr>
          <a:xfrm>
            <a:off x="5989320" y="1188720"/>
            <a:ext cx="0" cy="493776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2"/>
          <p:cNvSpPr/>
          <p:nvPr/>
        </p:nvSpPr>
        <p:spPr>
          <a:xfrm>
            <a:off x="6263640" y="1143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Risks &amp; Mitigations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263640" y="160020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Poor HR data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6263640" y="187452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Mandatory attributes, validation, clear ownership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263640" y="23774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Legacy apps lack standards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263640" y="26517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API/connector gateway; prioritise modernisation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6263640" y="31546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Overly broad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263640" y="34290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Role mining, approvals, periodic access reviews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263640" y="39319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User resistance to MFA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263640" y="42062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SSO, communication, phishing-resistant methods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263640" y="47091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Global regulatory differences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6263640" y="49834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Global baseline + country-specific overlays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E2761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822960" y="210312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This phased plan gives TechCorp a scalable identity foundation: automated lifecycle management keeps access aligned with employment status, while RBAC, MFA, PAM and continuous monitoring protect critical resources. Starting with the highest-risk applications and expanding globally, IAM becomes part of how TechCorp works</a:t>
            </a: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not a separate security layer.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22960" y="402336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822960" y="4023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1325880" y="404164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 steering committee &amp; kickoff 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822960" y="457200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82296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325880" y="459028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Finalise HRIS integration scope for Phase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822960" y="512064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822960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325880" y="51389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budget and resourcing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